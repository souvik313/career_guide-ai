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1675"/>
  <p:notesSz cx="6858000" cy="12191675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Geist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7.xml"/><Relationship Id="rId22" Type="http://schemas.openxmlformats.org/officeDocument/2006/relationships/font" Target="fonts/Geist-boldItalic.fntdata"/><Relationship Id="rId10" Type="http://schemas.openxmlformats.org/officeDocument/2006/relationships/slide" Target="slides/slide6.xml"/><Relationship Id="rId21" Type="http://schemas.openxmlformats.org/officeDocument/2006/relationships/font" Target="fonts/Geist-bold.fntdata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19" Type="http://schemas.openxmlformats.org/officeDocument/2006/relationships/font" Target="fonts/Lato-italic.fntdata"/><Relationship Id="rId6" Type="http://schemas.openxmlformats.org/officeDocument/2006/relationships/slide" Target="slides/slide2.xml"/><Relationship Id="rId18" Type="http://schemas.openxmlformats.org/officeDocument/2006/relationships/font" Target="fonts/La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 rot="5400000">
            <a:off x="10000175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2"/>
          <p:cNvSpPr txBox="1"/>
          <p:nvPr>
            <p:ph type="ctrTitle"/>
          </p:nvPr>
        </p:nvSpPr>
        <p:spPr>
          <a:xfrm>
            <a:off x="4716074" y="2104533"/>
            <a:ext cx="66897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6778419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5" name="Google Shape;25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3"/>
          <p:cNvSpPr txBox="1"/>
          <p:nvPr>
            <p:ph type="title"/>
          </p:nvPr>
        </p:nvSpPr>
        <p:spPr>
          <a:xfrm>
            <a:off x="1098437" y="2737333"/>
            <a:ext cx="61158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729954" y="525000"/>
            <a:ext cx="93849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729954" y="2090067"/>
            <a:ext cx="93849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5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4" name="Google Shape;54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5"/>
          <p:cNvSpPr txBox="1"/>
          <p:nvPr>
            <p:ph type="title"/>
          </p:nvPr>
        </p:nvSpPr>
        <p:spPr>
          <a:xfrm>
            <a:off x="1729954" y="525000"/>
            <a:ext cx="93849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1729954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6577453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2" name="Google Shape;62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6"/>
          <p:cNvSpPr txBox="1"/>
          <p:nvPr>
            <p:ph type="title"/>
          </p:nvPr>
        </p:nvSpPr>
        <p:spPr>
          <a:xfrm>
            <a:off x="1729954" y="525000"/>
            <a:ext cx="93849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729954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729954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5" name="Google Shape;75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098437" y="1155700"/>
            <a:ext cx="61158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7" name="Google Shape;97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9"/>
          <p:cNvSpPr txBox="1"/>
          <p:nvPr>
            <p:ph type="title"/>
          </p:nvPr>
        </p:nvSpPr>
        <p:spPr>
          <a:xfrm>
            <a:off x="1729954" y="2211100"/>
            <a:ext cx="40482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1729954" y="4717333"/>
            <a:ext cx="40482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6197435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0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5" name="Google Shape;105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1083604" y="5740500"/>
            <a:ext cx="92478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11" name="Google Shape;111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1098437" y="1712900"/>
            <a:ext cx="63678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1098437" y="3524166"/>
            <a:ext cx="63678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01620">
              <a:alpha val="9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4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/>
          <p:nvPr/>
        </p:nvSpPr>
        <p:spPr>
          <a:xfrm>
            <a:off x="11040575" y="6541725"/>
            <a:ext cx="1151100" cy="24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ouvik313/Career_Guide-AI" TargetMode="External"/><Relationship Id="rId4" Type="http://schemas.openxmlformats.org/officeDocument/2006/relationships/hyperlink" Target="https://career-guide-ai-mu.vercel.app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Relationship Id="rId8" Type="http://schemas.openxmlformats.org/officeDocument/2006/relationships/hyperlink" Target="https://career-guide-ai-mu.vercel.app/" TargetMode="External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2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/>
          <p:nvPr/>
        </p:nvSpPr>
        <p:spPr>
          <a:xfrm>
            <a:off x="661475" y="751979"/>
            <a:ext cx="10868745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950"/>
              <a:buFont typeface="Geist"/>
              <a:buNone/>
            </a:pPr>
            <a:r>
              <a:rPr b="1" i="0" lang="en-US" sz="29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CAPSTONE PROJECT PRESENTATION</a:t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661475" y="1319014"/>
            <a:ext cx="10868745" cy="368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2F6FED"/>
                </a:solidFill>
                <a:latin typeface="Geist"/>
                <a:ea typeface="Geist"/>
                <a:cs typeface="Geist"/>
                <a:sym typeface="Geist"/>
              </a:rPr>
              <a:t>AI / ML INTERNSHIP PROGRAM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61475" y="2018308"/>
            <a:ext cx="10868745" cy="25400"/>
          </a:xfrm>
          <a:prstGeom prst="roundRect">
            <a:avLst>
              <a:gd fmla="val 59999" name="adj"/>
            </a:avLst>
          </a:prstGeom>
          <a:solidFill>
            <a:srgbClr val="F9D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661475" y="2374404"/>
            <a:ext cx="1086874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PROJECT TITLE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661475" y="2757091"/>
            <a:ext cx="1086874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CareerCompass AI — AI-Powered Resume Analyzer and Career Recommendation Platform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661475" y="3394869"/>
            <a:ext cx="10868745" cy="25400"/>
          </a:xfrm>
          <a:prstGeom prst="roundRect">
            <a:avLst>
              <a:gd fmla="val 59999" name="adj"/>
            </a:avLst>
          </a:prstGeom>
          <a:solidFill>
            <a:srgbClr val="F9D9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850581" y="3799880"/>
            <a:ext cx="3274732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NAME: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3893742" y="3799880"/>
            <a:ext cx="8057055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Souvik Roy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50581" y="4285059"/>
            <a:ext cx="3274732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INTERNSHIP NAME: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3893742" y="4285059"/>
            <a:ext cx="8057055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IBM-PBEL AI Internship for Experiential Learning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850581" y="4770239"/>
            <a:ext cx="3274732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PROJECT LINK: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3893742" y="4770239"/>
            <a:ext cx="8057055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593DB"/>
              </a:buClr>
              <a:buSzPts val="1450"/>
              <a:buFont typeface="Geist"/>
              <a:buNone/>
            </a:pPr>
            <a:r>
              <a:rPr b="1" i="0" lang="en-US" sz="1450" u="sng" cap="none" strike="noStrike">
                <a:solidFill>
                  <a:srgbClr val="D9EAD3"/>
                </a:solidFill>
                <a:latin typeface="Geist"/>
                <a:ea typeface="Geist"/>
                <a:cs typeface="Geist"/>
                <a:sym typeface="Ge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https://github.com/Souvik313/Career_Guide-AI</a:t>
            </a:r>
            <a:endParaRPr b="0" i="0" sz="1450" u="none" cap="none" strike="noStrike">
              <a:solidFill>
                <a:srgbClr val="D9EAD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850581" y="5255419"/>
            <a:ext cx="3274732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LIVE DEMO: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3893742" y="5255419"/>
            <a:ext cx="8057055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FEED9"/>
              </a:buClr>
              <a:buSzPts val="1450"/>
              <a:buFont typeface="Geist"/>
              <a:buNone/>
            </a:pPr>
            <a:r>
              <a:rPr b="1" i="0" lang="en-US" sz="1450" u="sng" cap="none" strike="noStrike">
                <a:solidFill>
                  <a:schemeClr val="lt2"/>
                </a:solidFill>
                <a:latin typeface="Geist"/>
                <a:ea typeface="Geist"/>
                <a:cs typeface="Geist"/>
                <a:sym typeface="Ge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https://career-guide-ai-mu.vercel.app/</a:t>
            </a:r>
            <a:endParaRPr b="0" i="0" sz="145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850581" y="5740598"/>
            <a:ext cx="3274732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DATE OF SUBMISSION: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893742" y="5740598"/>
            <a:ext cx="8057055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July 2026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11029775" y="6550800"/>
            <a:ext cx="1161900" cy="30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/>
          <p:nvPr/>
        </p:nvSpPr>
        <p:spPr>
          <a:xfrm>
            <a:off x="661475" y="740668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The Problem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661475" y="1732955"/>
            <a:ext cx="10868745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Traditional hiring tools often miss strong candidates because they depend on exact keyword matches instead of understanding meaning. The same skill can be described in different ways.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661475" y="2625923"/>
            <a:ext cx="520379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Traditional ATS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61475" y="3122017"/>
            <a:ext cx="520379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Exact-match filtering can miss synonyms, related terms, and transferable skills.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661475" y="3825974"/>
            <a:ext cx="25399" cy="1417241"/>
          </a:xfrm>
          <a:prstGeom prst="roundRect">
            <a:avLst>
              <a:gd fmla="val 60001" name="adj"/>
            </a:avLst>
          </a:prstGeom>
          <a:solidFill>
            <a:srgbClr val="629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944936" y="3996035"/>
            <a:ext cx="4920333" cy="1077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Job: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Backend service development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Resume: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Built REST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❌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Missed match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661475" y="5455841"/>
            <a:ext cx="520379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This leads to missed matches, limited feedback, and more manual review.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332776" y="2625923"/>
            <a:ext cx="5203794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CareerCompass AI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6332776" y="3122017"/>
            <a:ext cx="520379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Semantic matching connects related skills and evaluates candidates more fairly.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6332776" y="3825974"/>
            <a:ext cx="25399" cy="1417241"/>
          </a:xfrm>
          <a:prstGeom prst="roundRect">
            <a:avLst>
              <a:gd fmla="val 60001" name="adj"/>
            </a:avLst>
          </a:prstGeom>
          <a:solidFill>
            <a:srgbClr val="629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6616237" y="3996035"/>
            <a:ext cx="4920333" cy="1077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Job: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Backend service development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1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Resume: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Built REST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Geist"/>
                <a:ea typeface="Geist"/>
                <a:cs typeface="Geist"/>
                <a:sym typeface="Geist"/>
              </a:rPr>
              <a:t>✅</a:t>
            </a: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Perfect match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6332776" y="5455841"/>
            <a:ext cx="5203794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By understanding context, CareerCompass AI reduces false negatives and supports smarter recommendations.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11088975" y="6574000"/>
            <a:ext cx="11028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661475" y="733425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How It Works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725712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/>
          <p:nvPr/>
        </p:nvSpPr>
        <p:spPr>
          <a:xfrm>
            <a:off x="850482" y="2670770"/>
            <a:ext cx="3244868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1. Resume Upload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850482" y="3091259"/>
            <a:ext cx="3244868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PDF/DOCX files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" name="Google Shape;1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4357" y="1725712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4473364" y="2670770"/>
            <a:ext cx="3244868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2. Text Extraction &amp; Embedding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4473364" y="3398341"/>
            <a:ext cx="3244868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PyMuPDF, python-docx, Sentence Transformers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239" y="1725712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/>
          <p:nvPr/>
        </p:nvSpPr>
        <p:spPr>
          <a:xfrm>
            <a:off x="8096246" y="2670770"/>
            <a:ext cx="3244868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3. Semantic Matching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8096246" y="3091259"/>
            <a:ext cx="3244868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Cosine similarity against 142K job descriptions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" name="Google Shape;19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75" y="4078684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/>
          <p:nvPr/>
        </p:nvSpPr>
        <p:spPr>
          <a:xfrm>
            <a:off x="850482" y="5023743"/>
            <a:ext cx="3244868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4. Career Analysis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850482" y="5444232"/>
            <a:ext cx="3244868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Match scores, skill gaps, strengths identified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4357" y="4078684"/>
            <a:ext cx="3622882" cy="75604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/>
          <p:nvPr/>
        </p:nvSpPr>
        <p:spPr>
          <a:xfrm>
            <a:off x="4473364" y="5023743"/>
            <a:ext cx="3244868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5. AI Report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4473364" y="5444232"/>
            <a:ext cx="3244868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Groq API generates personalized narrative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11088975" y="6574000"/>
            <a:ext cx="1102800" cy="24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661475" y="1979017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Technology Stack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971304"/>
            <a:ext cx="3496877" cy="1907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8183" y="3128863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/>
          <p:nvPr/>
        </p:nvSpPr>
        <p:spPr>
          <a:xfrm>
            <a:off x="875881" y="3752751"/>
            <a:ext cx="306806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Frontend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875881" y="4173240"/>
            <a:ext cx="3068065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React.js, Tailwind CSS, Recharts, jsPDF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359" y="2971304"/>
            <a:ext cx="3496877" cy="1907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4067" y="3128863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/>
          <p:nvPr/>
        </p:nvSpPr>
        <p:spPr>
          <a:xfrm>
            <a:off x="4561766" y="3752751"/>
            <a:ext cx="306806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Backend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561766" y="4173240"/>
            <a:ext cx="3068065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FastAPI, Python 3.11, Uvicorn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3244" y="2971304"/>
            <a:ext cx="3496877" cy="1907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9952" y="3128863"/>
            <a:ext cx="283461" cy="28346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/>
          <p:nvPr/>
        </p:nvSpPr>
        <p:spPr>
          <a:xfrm>
            <a:off x="8247650" y="3752751"/>
            <a:ext cx="306806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ML/Data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8247650" y="4173240"/>
            <a:ext cx="3068065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Sentence Transformers, Llama 3.3 70B, PyMuPDF, python-docx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11040575" y="6557850"/>
            <a:ext cx="1151100" cy="24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/>
        </p:nvSpPr>
        <p:spPr>
          <a:xfrm>
            <a:off x="661475" y="1704578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Dataset &amp; Methodology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61475" y="2791321"/>
            <a:ext cx="5203794" cy="368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Dataset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661475" y="3348930"/>
            <a:ext cx="5203794" cy="1426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Source: Hugging Face (lang-uk/recruitment-dataset-job-descriptions-english)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Size: ~142,000 job listings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Fields: Job title, description, required skills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License: MIT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6332776" y="2791321"/>
            <a:ext cx="5203794" cy="368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Core Methodology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6332776" y="3348930"/>
            <a:ext cx="5203794" cy="1738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Resume Parsing: PyMuPDF &amp; python-docx extract text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NLP Preprocessing: Clean text, extract skills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Semantic Embeddings: Sentence Transformers convert to vectors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Matching: Cosine similarity comparison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Char char="•"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Report Generation: Llama 3.3 70B via Groq 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11040575" y="6574000"/>
            <a:ext cx="1151100" cy="20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/>
          <p:nvPr/>
        </p:nvSpPr>
        <p:spPr>
          <a:xfrm>
            <a:off x="661475" y="651470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Key Results &amp; Impact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549202"/>
            <a:ext cx="5339820" cy="188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8" name="Google Shape;2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7931" y="1719263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/>
          <p:nvPr/>
        </p:nvSpPr>
        <p:spPr>
          <a:xfrm>
            <a:off x="875881" y="2305149"/>
            <a:ext cx="4911007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142K Job Descriptions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875881" y="2725638"/>
            <a:ext cx="4911007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Analyzed for matching, ensuring a broad and relevant search scope.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301" y="1549202"/>
            <a:ext cx="5339919" cy="188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2" name="Google Shape;2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6757" y="1719263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9"/>
          <p:cNvSpPr/>
          <p:nvPr/>
        </p:nvSpPr>
        <p:spPr>
          <a:xfrm>
            <a:off x="6404708" y="2305149"/>
            <a:ext cx="4911106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Semantic Matching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404708" y="2725638"/>
            <a:ext cx="4911106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Goes beyond keyword-only to understand the true meaning of skills and requirements.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620393"/>
            <a:ext cx="5339820" cy="188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7931" y="3790454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/>
          <p:nvPr/>
        </p:nvSpPr>
        <p:spPr>
          <a:xfrm>
            <a:off x="875881" y="4376341"/>
            <a:ext cx="4911007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Personalized Reports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875881" y="4796830"/>
            <a:ext cx="4911007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Provides tailored learning roadmaps and detailed skill gap analysis.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301" y="3620393"/>
            <a:ext cx="5339919" cy="188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757" y="3790454"/>
            <a:ext cx="22680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/>
          <p:nvPr/>
        </p:nvSpPr>
        <p:spPr>
          <a:xfrm>
            <a:off x="6404708" y="4376341"/>
            <a:ext cx="4911106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Live Demo Available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6404708" y="4796830"/>
            <a:ext cx="4911106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296FF"/>
              </a:buClr>
              <a:buSzPts val="1450"/>
              <a:buFont typeface="Geist"/>
              <a:buNone/>
            </a:pPr>
            <a:r>
              <a:rPr b="1" i="0" lang="en-US" sz="1450" u="sng" cap="none" strike="noStrike">
                <a:solidFill>
                  <a:schemeClr val="hlink"/>
                </a:solidFill>
                <a:latin typeface="Geist"/>
                <a:ea typeface="Geist"/>
                <a:cs typeface="Geist"/>
                <a:sym typeface="Geist"/>
                <a:hlinkClick r:id="rId8"/>
              </a:rPr>
              <a:t>https://career-guide-ai-mu.vercel.app/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61475" y="5715198"/>
            <a:ext cx="10868745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CareerCompass AI transforms career exploration by providing precise, AI-driven insights, helping users navigate their professional journey with confidence.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/>
          <p:nvPr/>
        </p:nvSpPr>
        <p:spPr>
          <a:xfrm>
            <a:off x="661475" y="880666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Challenges &amp; Testing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661475" y="1967409"/>
            <a:ext cx="4977184" cy="368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Challenges Faced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614712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661475" y="2853928"/>
            <a:ext cx="2394089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661475" y="2999184"/>
            <a:ext cx="2394089" cy="921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Inconsistent layouts, multi-column designs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4570" y="2614712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/>
          <p:nvPr/>
        </p:nvSpPr>
        <p:spPr>
          <a:xfrm>
            <a:off x="3244570" y="2872879"/>
            <a:ext cx="2394089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3244570" y="2999184"/>
            <a:ext cx="2394089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Translating similarity to scores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279404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/>
          <p:nvPr/>
        </p:nvSpPr>
        <p:spPr>
          <a:xfrm>
            <a:off x="661475" y="4537571"/>
            <a:ext cx="2394089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661475" y="4701679"/>
            <a:ext cx="2394089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Structured report sections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4570" y="4279404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0"/>
          <p:cNvSpPr/>
          <p:nvPr/>
        </p:nvSpPr>
        <p:spPr>
          <a:xfrm>
            <a:off x="3244570" y="4537571"/>
            <a:ext cx="2394089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3244570" y="4701679"/>
            <a:ext cx="2394089" cy="9212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Scanned, non-English, malformed files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106166" y="1967409"/>
            <a:ext cx="5430305" cy="368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Testing &amp; Quality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6166" y="2614712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/>
          <p:nvPr/>
        </p:nvSpPr>
        <p:spPr>
          <a:xfrm>
            <a:off x="6106166" y="2891730"/>
            <a:ext cx="1684097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6106166" y="2999184"/>
            <a:ext cx="1684097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Core pipeline modules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7" name="Google Shape;27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79270" y="2614712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/>
          <p:nvPr/>
        </p:nvSpPr>
        <p:spPr>
          <a:xfrm>
            <a:off x="7979270" y="2891730"/>
            <a:ext cx="1684097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7979270" y="2999184"/>
            <a:ext cx="1684097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Development validation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52374" y="2614712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/>
          <p:nvPr/>
        </p:nvSpPr>
        <p:spPr>
          <a:xfrm>
            <a:off x="9852374" y="2891730"/>
            <a:ext cx="1684097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9852374" y="2999184"/>
            <a:ext cx="1684097" cy="6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Labeled test evaluation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06166" y="3972322"/>
            <a:ext cx="189007" cy="18901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/>
          <p:nvPr/>
        </p:nvSpPr>
        <p:spPr>
          <a:xfrm>
            <a:off x="6106166" y="4249341"/>
            <a:ext cx="5430305" cy="25400"/>
          </a:xfrm>
          <a:prstGeom prst="rect">
            <a:avLst/>
          </a:prstGeom>
          <a:solidFill>
            <a:srgbClr val="487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"/>
          <p:cNvSpPr/>
          <p:nvPr/>
        </p:nvSpPr>
        <p:spPr>
          <a:xfrm>
            <a:off x="6106166" y="4394597"/>
            <a:ext cx="5430305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Automated deployment tests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11056775" y="6550800"/>
            <a:ext cx="1134900" cy="30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661475" y="890587"/>
            <a:ext cx="10868745" cy="614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700"/>
              <a:buFont typeface="Geist"/>
              <a:buNone/>
            </a:pPr>
            <a:r>
              <a:rPr b="1" i="0" lang="en-US" sz="370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Conclusion &amp; Next Steps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61475" y="1977330"/>
            <a:ext cx="5317000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Key Achievements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661475" y="2497038"/>
            <a:ext cx="2563947" cy="1657152"/>
          </a:xfrm>
          <a:prstGeom prst="roundRect">
            <a:avLst>
              <a:gd fmla="val 4791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875881" y="2711450"/>
            <a:ext cx="2135134" cy="1228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Successfully demonstrated a working, semantically-grounded career guidance pipeline.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3414429" y="2497038"/>
            <a:ext cx="2564046" cy="1657152"/>
          </a:xfrm>
          <a:prstGeom prst="roundRect">
            <a:avLst>
              <a:gd fmla="val 4791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3628835" y="2711450"/>
            <a:ext cx="2135233" cy="98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Semantic understanding outperforms keyword matching in finding better role matches.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61475" y="4343202"/>
            <a:ext cx="2563947" cy="1411486"/>
          </a:xfrm>
          <a:prstGeom prst="roundRect">
            <a:avLst>
              <a:gd fmla="val 5624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"/>
          <p:cNvSpPr/>
          <p:nvPr/>
        </p:nvSpPr>
        <p:spPr>
          <a:xfrm>
            <a:off x="875881" y="4557613"/>
            <a:ext cx="2135134" cy="98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Full-stack production-ready application with a complete end-to-end workflow.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3414429" y="4343202"/>
            <a:ext cx="2564046" cy="1411486"/>
          </a:xfrm>
          <a:prstGeom prst="roundRect">
            <a:avLst>
              <a:gd fmla="val 5624" name="adj"/>
            </a:avLst>
          </a:prstGeom>
          <a:solidFill>
            <a:srgbClr val="101620">
              <a:alpha val="94902"/>
            </a:srgbClr>
          </a:solidFill>
          <a:ln cap="flat" cmpd="sng" w="253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3628835" y="4557613"/>
            <a:ext cx="2135233" cy="982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Interactive analytics dashboard with PDF export for clear, shareable insights.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445982" y="1977330"/>
            <a:ext cx="5090489" cy="307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1850"/>
              <a:buFont typeface="Geist"/>
              <a:buNone/>
            </a:pPr>
            <a:r>
              <a:rPr b="1" i="0" lang="en-US" sz="18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Next Steps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6445982" y="2497038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6516872" y="2525415"/>
            <a:ext cx="283461" cy="368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7060230" y="2586732"/>
            <a:ext cx="1812880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Precision/recall evaluation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9109343" y="2497038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>
            <a:off x="9180233" y="2525415"/>
            <a:ext cx="283461" cy="368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9723591" y="2586732"/>
            <a:ext cx="1812880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CI-integrated testing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6445982" y="3456087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/>
          <p:nvPr/>
        </p:nvSpPr>
        <p:spPr>
          <a:xfrm>
            <a:off x="6516872" y="3484463"/>
            <a:ext cx="283461" cy="368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7060230" y="3545780"/>
            <a:ext cx="1812880" cy="491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Multi-language support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9109343" y="3456087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/>
          <p:nvPr/>
        </p:nvSpPr>
        <p:spPr>
          <a:xfrm>
            <a:off x="9180233" y="3484463"/>
            <a:ext cx="283461" cy="368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9723591" y="3545780"/>
            <a:ext cx="1812880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ATS integration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6445982" y="4415135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190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/>
          <p:nvPr/>
        </p:nvSpPr>
        <p:spPr>
          <a:xfrm>
            <a:off x="6516872" y="4443512"/>
            <a:ext cx="283461" cy="368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7060230" y="4504829"/>
            <a:ext cx="4476241" cy="245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50"/>
              <a:buFont typeface="Geist"/>
              <a:buNone/>
            </a:pPr>
            <a:r>
              <a:rPr b="0" i="0" lang="en-US" sz="14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Auth &amp; history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11024425" y="6541725"/>
            <a:ext cx="1167300" cy="24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C593D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